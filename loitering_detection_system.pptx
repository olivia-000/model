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005840"/>
            <a:ext cx="1188720" cy="749808"/>
          </a:xfrm>
          <a:prstGeom prst="rect">
            <a:avLst/>
          </a:prstGeom>
          <a:solidFill>
            <a:srgbClr val="00C9B1">
              <a:alpha val="85000"/>
            </a:srgbClr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09928" y="1161288"/>
            <a:ext cx="420624" cy="420624"/>
          </a:xfrm>
          <a:prstGeom prst="ellipse">
            <a:avLst/>
          </a:prstGeom>
          <a:solidFill>
            <a:srgbClr val="0A0E1A"/>
          </a:solidFill>
          <a:ln w="25400">
            <a:solidFill>
              <a:srgbClr val="00E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37944" y="1289304"/>
            <a:ext cx="164592" cy="164592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261872"/>
            <a:ext cx="320040" cy="20116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822960"/>
            <a:ext cx="3108960" cy="18288"/>
          </a:xfrm>
          <a:prstGeom prst="rect">
            <a:avLst/>
          </a:prstGeom>
          <a:solidFill>
            <a:srgbClr val="00C9B1">
              <a:alpha val="20000"/>
            </a:srgbClr>
          </a:solidFill>
          <a:ln w="12700">
            <a:solidFill>
              <a:srgbClr val="00C9B1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508760"/>
            <a:ext cx="3108960" cy="18288"/>
          </a:xfrm>
          <a:prstGeom prst="rect">
            <a:avLst/>
          </a:prstGeom>
          <a:solidFill>
            <a:srgbClr val="00C9B1">
              <a:alpha val="20000"/>
            </a:srgbClr>
          </a:solidFill>
          <a:ln w="12700">
            <a:solidFill>
              <a:srgbClr val="00C9B1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194560"/>
            <a:ext cx="3108960" cy="18288"/>
          </a:xfrm>
          <a:prstGeom prst="rect">
            <a:avLst/>
          </a:prstGeom>
          <a:solidFill>
            <a:srgbClr val="00C9B1">
              <a:alpha val="20000"/>
            </a:srgbClr>
          </a:solidFill>
          <a:ln w="12700">
            <a:solidFill>
              <a:srgbClr val="00C9B1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880360"/>
            <a:ext cx="3108960" cy="18288"/>
          </a:xfrm>
          <a:prstGeom prst="rect">
            <a:avLst/>
          </a:prstGeom>
          <a:solidFill>
            <a:srgbClr val="00C9B1">
              <a:alpha val="20000"/>
            </a:srgbClr>
          </a:solidFill>
          <a:ln w="12700">
            <a:solidFill>
              <a:srgbClr val="00C9B1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Loitering Detection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System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" y="31546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12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1005840"/>
            <a:ext cx="2240280" cy="1234440"/>
          </a:xfrm>
          <a:prstGeom prst="rect">
            <a:avLst/>
          </a:prstGeom>
          <a:solidFill>
            <a:srgbClr val="1E2A3A"/>
          </a:solidFill>
          <a:ln w="12700">
            <a:solidFill>
              <a:srgbClr val="A78BFA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06240" y="1005840"/>
            <a:ext cx="224028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117043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15968" y="164592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Model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1005840"/>
            <a:ext cx="2240280" cy="1234440"/>
          </a:xfrm>
          <a:prstGeom prst="rect">
            <a:avLst/>
          </a:prstGeom>
          <a:solidFill>
            <a:srgbClr val="1E2A3A"/>
          </a:solidFill>
          <a:ln w="12700">
            <a:solidFill>
              <a:srgbClr val="3B9EFF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005840"/>
            <a:ext cx="2240280" cy="91440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9128" y="117043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39128" y="164592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 Tracker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2423160"/>
            <a:ext cx="2240280" cy="1234440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0" y="2423160"/>
            <a:ext cx="22402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15968" y="258775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315968" y="306324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Loiter Threshold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29400" y="2423160"/>
            <a:ext cx="2240280" cy="1234440"/>
          </a:xfrm>
          <a:prstGeom prst="rect">
            <a:avLst/>
          </a:prstGeom>
          <a:solidFill>
            <a:srgbClr val="1E2A3A"/>
          </a:solidFill>
          <a:ln w="12700">
            <a:solidFill>
              <a:srgbClr val="22C55E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29400" y="2423160"/>
            <a:ext cx="224028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39128" y="258775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Feeds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739128" y="306324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MJPEG Streams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0624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即時監控  ·  AI 行為偵測  ·  邊緣硬體整合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943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專案概覽  ·  Project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3977640" cy="4160520"/>
          </a:xfrm>
          <a:prstGeom prst="rect">
            <a:avLst/>
          </a:prstGeom>
          <a:solidFill>
            <a:srgbClr val="1E2A3A"/>
          </a:solidFill>
          <a:ln w="19050">
            <a:solidFill>
              <a:srgbClr val="00C9B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3977640" cy="12801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問題定義  Problem Statement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1417320"/>
            <a:ext cx="640080" cy="320040"/>
          </a:xfrm>
          <a:prstGeom prst="rect">
            <a:avLst/>
          </a:prstGeom>
          <a:solidFill>
            <a:srgbClr val="00C9B1">
              <a:alpha val="75000"/>
            </a:srgbClr>
          </a:solidFill>
          <a:ln w="12700">
            <a:solidFill>
              <a:srgbClr val="00C9B1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17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自動偵測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144475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在特定區域長時間停留的可疑人員（Loitering）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075688"/>
            <a:ext cx="640080" cy="320040"/>
          </a:xfrm>
          <a:prstGeom prst="rect">
            <a:avLst/>
          </a:prstGeom>
          <a:solidFill>
            <a:srgbClr val="00C9B1">
              <a:alpha val="75000"/>
            </a:srgbClr>
          </a:solidFill>
          <a:ln w="12700">
            <a:solidFill>
              <a:srgbClr val="00C9B1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0756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即時分析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70432" y="210312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 AI 物件偵測 + 多目標追蹤，實現 per-person 行為分析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2734056"/>
            <a:ext cx="640080" cy="320040"/>
          </a:xfrm>
          <a:prstGeom prst="rect">
            <a:avLst/>
          </a:prstGeom>
          <a:solidFill>
            <a:srgbClr val="00C9B1">
              <a:alpha val="75000"/>
            </a:srgbClr>
          </a:solidFill>
          <a:ln w="12700">
            <a:solidFill>
              <a:srgbClr val="00C9B1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73405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硬體部署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70432" y="276148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支援低成本 ESP32-CAM 無線攝影機，也相容本地影片與 Webcam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3392424"/>
            <a:ext cx="640080" cy="320040"/>
          </a:xfrm>
          <a:prstGeom prst="rect">
            <a:avLst/>
          </a:prstGeom>
          <a:solidFill>
            <a:srgbClr val="00C9B1">
              <a:alpha val="75000"/>
            </a:srgbClr>
          </a:solidFill>
          <a:ln w="12700">
            <a:solidFill>
              <a:srgbClr val="00C9B1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39242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警報系統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70432" y="3419856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滯留超過閾值時觸發警報，並記錄事件供後續查詢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4050792"/>
            <a:ext cx="640080" cy="320040"/>
          </a:xfrm>
          <a:prstGeom prst="rect">
            <a:avLst/>
          </a:prstGeom>
          <a:solidFill>
            <a:srgbClr val="00C9B1">
              <a:alpha val="75000"/>
            </a:srgbClr>
          </a:solidFill>
          <a:ln w="12700">
            <a:solidFill>
              <a:srgbClr val="00C9B1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0507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視覺化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70432" y="4078224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儀表板提供三種即時畫面與 REST API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731520"/>
            <a:ext cx="4251960" cy="4160520"/>
          </a:xfrm>
          <a:prstGeom prst="rect">
            <a:avLst/>
          </a:prstGeom>
          <a:solidFill>
            <a:srgbClr val="162032"/>
          </a:solidFill>
          <a:ln w="19050">
            <a:solidFill>
              <a:srgbClr val="3B9E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731520"/>
            <a:ext cx="4251960" cy="128016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核心技術堆疊  Tech Stack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73168" y="1389888"/>
            <a:ext cx="73152" cy="4937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389888"/>
            <a:ext cx="3858768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4264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YOLOv11n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89320" y="1444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物件偵測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16642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· Nano 輕量版 · fine-tuned on person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73168" y="2048256"/>
            <a:ext cx="73152" cy="493776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048256"/>
            <a:ext cx="3858768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3B9EFF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0848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ByteTrack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89320" y="2103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多目標追蹤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23225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整合於 YOLO.track() · per-frame track_id 分配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73168" y="2706624"/>
            <a:ext cx="73152" cy="4937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2706624"/>
            <a:ext cx="3858768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743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89320" y="27614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影像處理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2980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影格擷取 · MJPEG 編碼 · numpy 陣列轉換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73168" y="3364992"/>
            <a:ext cx="73152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3364992"/>
            <a:ext cx="3858768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401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89320" y="3419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後端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37760" y="3639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背景執行緒 · MJPEG 串流 · REST API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73168" y="4023360"/>
            <a:ext cx="73152" cy="4937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4023360"/>
            <a:ext cx="3858768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40599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ESP32-CAM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89320" y="4078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邊緣硬體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37760" y="4297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/capture · Wi-Fi · Arduino CameraWebServer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94360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系統架構全圖  ·  Complete System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658368" cy="56692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77724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1627632"/>
            <a:ext cx="658368" cy="566928"/>
          </a:xfrm>
          <a:prstGeom prst="rect">
            <a:avLst/>
          </a:prstGeom>
          <a:solidFill>
            <a:srgbClr val="3B9EFF">
              <a:alpha val="80000"/>
            </a:srgbClr>
          </a:solidFill>
          <a:ln w="12700">
            <a:solidFill>
              <a:srgbClr val="3B9E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162763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0" y="2450592"/>
            <a:ext cx="658368" cy="566928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2450592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0" y="3246120"/>
            <a:ext cx="658368" cy="56692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32461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77240" y="749808"/>
            <a:ext cx="1737360" cy="658368"/>
          </a:xfrm>
          <a:prstGeom prst="rect">
            <a:avLst/>
          </a:prstGeom>
          <a:solidFill>
            <a:srgbClr val="1E2A3A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749808"/>
            <a:ext cx="173736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877824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/capture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0" y="749808"/>
            <a:ext cx="1737360" cy="658368"/>
          </a:xfrm>
          <a:prstGeom prst="rect">
            <a:avLst/>
          </a:prstGeom>
          <a:solidFill>
            <a:srgbClr val="1E2A3A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749808"/>
            <a:ext cx="173736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877824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Video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.mp4 / .avi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749808"/>
            <a:ext cx="1737360" cy="658368"/>
          </a:xfrm>
          <a:prstGeom prst="rect">
            <a:avLst/>
          </a:prstGeom>
          <a:solidFill>
            <a:srgbClr val="1E2A3A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749808"/>
            <a:ext cx="173736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877824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Index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1024128"/>
            <a:ext cx="914400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7955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45920" y="1408176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611880" y="1408176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577840" y="1408176"/>
            <a:ext cx="0" cy="164592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77240" y="1572768"/>
            <a:ext cx="6720840" cy="658368"/>
          </a:xfrm>
          <a:prstGeom prst="rect">
            <a:avLst/>
          </a:prstGeom>
          <a:solidFill>
            <a:srgbClr val="162032"/>
          </a:solidFill>
          <a:ln w="19050">
            <a:solidFill>
              <a:srgbClr val="3B9E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1572768"/>
            <a:ext cx="6720840" cy="91440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1682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esp32_source.py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17520" y="17099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背景執行緒統一影片來源 — 抓幀、JPEG解碼、numpy陣列輸出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196596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thread  ·  frame normalization  ·  supports HTTP polling + local file seek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03320" y="2308860"/>
            <a:ext cx="384048" cy="64008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87368" y="2258568"/>
            <a:ext cx="118872" cy="164592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2377440"/>
            <a:ext cx="6720840" cy="658368"/>
          </a:xfrm>
          <a:prstGeom prst="rect">
            <a:avLst/>
          </a:prstGeom>
          <a:solidFill>
            <a:srgbClr val="1E2A3A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7240" y="2377440"/>
            <a:ext cx="672084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YOLO.track()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834640" y="25146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 + ByteTrack — 每幀回傳 track_id / bbox / confidence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27706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model.track(frame, persist=True, tracker='bytetrack.yaml', conf=0.4, iou=0.5, classes=[0])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703320" y="3113532"/>
            <a:ext cx="38404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87368" y="3063240"/>
            <a:ext cx="118872" cy="1645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" y="3182112"/>
            <a:ext cx="3246120" cy="804672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77240" y="3182112"/>
            <a:ext cx="32461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" y="33101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多邊形滯留判斷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86968" y="3611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中心 → polygon-in check → per-track dwell 累積 → threshold 比較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251960" y="3182112"/>
            <a:ext cx="3246120" cy="804672"/>
          </a:xfrm>
          <a:prstGeom prst="rect">
            <a:avLst/>
          </a:prstGeom>
          <a:solidFill>
            <a:srgbClr val="1E2A3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251960" y="3182112"/>
            <a:ext cx="324612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61688" y="33101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Loitering Alert 警報觸發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361688" y="3611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&gt; 5s → alert log + dashboard highlight + REST /api/alerts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840480" y="3552444"/>
            <a:ext cx="2926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33088" y="3502152"/>
            <a:ext cx="11887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7240" y="4160520"/>
            <a:ext cx="1920240" cy="685800"/>
          </a:xfrm>
          <a:prstGeom prst="rect">
            <a:avLst/>
          </a:prstGeom>
          <a:solidFill>
            <a:srgbClr val="0D1117"/>
          </a:solidFill>
          <a:ln w="19050">
            <a:solidFill>
              <a:srgbClr val="00C9B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4160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MJPEG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971800" y="4160520"/>
            <a:ext cx="1920240" cy="685800"/>
          </a:xfrm>
          <a:prstGeom prst="rect">
            <a:avLst/>
          </a:prstGeom>
          <a:solidFill>
            <a:srgbClr val="0D1117"/>
          </a:solidFill>
          <a:ln w="19050">
            <a:solidFill>
              <a:srgbClr val="3B9E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71800" y="4160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/api/status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166360" y="4160520"/>
            <a:ext cx="1920240" cy="685800"/>
          </a:xfrm>
          <a:prstGeom prst="rect">
            <a:avLst/>
          </a:prstGeom>
          <a:solidFill>
            <a:srgbClr val="0D111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66360" y="4160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360920" y="4160520"/>
            <a:ext cx="1920240" cy="685800"/>
          </a:xfrm>
          <a:prstGeom prst="rect">
            <a:avLst/>
          </a:prstGeom>
          <a:solidFill>
            <a:srgbClr val="0D1117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60920" y="4160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Video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959352" y="3986784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核心程式檔案  ·  Key Files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4206240" cy="1298448"/>
          </a:xfrm>
          <a:prstGeom prst="rect">
            <a:avLst/>
          </a:prstGeom>
          <a:solidFill>
            <a:srgbClr val="1E2A3A"/>
          </a:solidFill>
          <a:ln w="19050">
            <a:solidFill>
              <a:srgbClr val="00C9B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49808"/>
            <a:ext cx="91440" cy="129844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loitering_detect.py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133856"/>
            <a:ext cx="3931920" cy="9144"/>
          </a:xfrm>
          <a:prstGeom prst="rect">
            <a:avLst/>
          </a:prstGeom>
          <a:solidFill>
            <a:srgbClr val="00C9B1">
              <a:alpha val="40000"/>
            </a:srgbClr>
          </a:solidFill>
          <a:ln w="1270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795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偵測工具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4081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載入模型 → 追蹤迴圈 → ROI check → 警報 → 輸出標註影片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--source / --model / --conf / --loiter-seconds / --grace-seconds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99432" y="749808"/>
            <a:ext cx="4206240" cy="1298448"/>
          </a:xfrm>
          <a:prstGeom prst="rect">
            <a:avLst/>
          </a:prstGeom>
          <a:solidFill>
            <a:srgbClr val="1E2A3A"/>
          </a:solidFill>
          <a:ln w="19050">
            <a:solidFill>
              <a:srgbClr val="3B9E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9432" y="749808"/>
            <a:ext cx="91440" cy="1298448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loitering_dashboard/app.py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82312" y="1133856"/>
            <a:ext cx="3931920" cy="9144"/>
          </a:xfrm>
          <a:prstGeom prst="rect">
            <a:avLst/>
          </a:prstGeom>
          <a:solidFill>
            <a:srgbClr val="3B9EFF">
              <a:alpha val="40000"/>
            </a:srgbClr>
          </a:solidFill>
          <a:ln w="12700">
            <a:solidFill>
              <a:srgbClr val="3B9E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1795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主應用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82312" y="14081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背景偵測執行緒 + 3路 MJPEG 串流生成 + REST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硬編碼：IP 172.20.10.2、Loiter 5s、ROI polygon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157984"/>
            <a:ext cx="4206240" cy="1298448"/>
          </a:xfrm>
          <a:prstGeom prst="rect">
            <a:avLst/>
          </a:prstGeom>
          <a:solidFill>
            <a:srgbClr val="1E2A3A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157984"/>
            <a:ext cx="91440" cy="12984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249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esp32_source.py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2542032"/>
            <a:ext cx="3931920" cy="9144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877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影片來源抽象層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28163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 ESP32-CAM HTTP /capture + 本地檔案 + Webcam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背景執行緒持續抓幀並存入 deque buffer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99432" y="2157984"/>
            <a:ext cx="4206240" cy="1298448"/>
          </a:xfrm>
          <a:prstGeom prst="rect">
            <a:avLst/>
          </a:prstGeom>
          <a:solidFill>
            <a:srgbClr val="1E2A3A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99432" y="2157984"/>
            <a:ext cx="91440" cy="12984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2249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train_yolo_person.py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82312" y="2542032"/>
            <a:ext cx="3931920" cy="9144"/>
          </a:xfrm>
          <a:prstGeom prst="rect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25877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模型訓練腳本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82312" y="281635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 person_dataset 目錄結構 → 自動生成 person.yaml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ultralytics YOLO.train() API 執行 fine-tune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566160"/>
            <a:ext cx="4206240" cy="1298448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566160"/>
            <a:ext cx="91440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convert_pennfudan_to_yolo.py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" y="3950208"/>
            <a:ext cx="3931920" cy="914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9959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資料集格式轉換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42245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 VOC XML (PennFudan/INRIA) → YOLO .txt 標籤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 &lt;object&gt; 標籤，計算 normalized bbox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99432" y="3566160"/>
            <a:ext cx="4206240" cy="1298448"/>
          </a:xfrm>
          <a:prstGeom prst="rect">
            <a:avLst/>
          </a:prstGeom>
          <a:solidFill>
            <a:srgbClr val="1E2A3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99432" y="3566160"/>
            <a:ext cx="91440" cy="1298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test_model.py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82312" y="3950208"/>
            <a:ext cx="3931920" cy="9144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82312" y="39959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快速推論驗證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82312" y="42245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最小化推論測試：載入 best.pt → 對測試影片單幀推論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驗證模型載入與 YOLO API 正常運作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模型架構與訓練  ·  Model Architecture &amp; Training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4206240"/>
          </a:xfrm>
          <a:prstGeom prst="rect">
            <a:avLst/>
          </a:prstGeom>
          <a:solidFill>
            <a:srgbClr val="1E2A3A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41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模型規格  Model Specs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" y="1280160"/>
            <a:ext cx="146304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8016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132588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YOLOv11 Nano (yolo11n.pt)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1682496"/>
            <a:ext cx="146304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8249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11680" y="172821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Detection — class: person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" y="2084832"/>
            <a:ext cx="146304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08483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Weights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213055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runs/person_yolo_train/weights/best.pt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" y="2487168"/>
            <a:ext cx="146304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48716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0" y="25328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Ultralytics Python API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" y="2889504"/>
            <a:ext cx="146304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88950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293522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frames as numpy ndarray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" y="3291840"/>
            <a:ext cx="146304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29184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 frame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33375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track_id  ·  bbox xyxy  ·  confidence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3694176"/>
            <a:ext cx="146304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69417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11680" y="37398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ByteTrack (bytetrack.yaml)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4096512"/>
            <a:ext cx="146304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09651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0" y="41422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conf=0.4  (tunable CLI flag)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38912" y="4498848"/>
            <a:ext cx="1463040" cy="301752"/>
          </a:xfrm>
          <a:prstGeom prst="rect">
            <a:avLst/>
          </a:prstGeom>
          <a:solidFill>
            <a:srgbClr val="0D1117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4988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thresh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011680" y="45445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iou=0.5   (tunable CLI flag)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731520"/>
            <a:ext cx="4251960" cy="4206240"/>
          </a:xfrm>
          <a:prstGeom prst="rect">
            <a:avLst/>
          </a:prstGeom>
          <a:solidFill>
            <a:srgbClr val="162032"/>
          </a:solidFill>
          <a:ln w="19050">
            <a:solidFill>
              <a:srgbClr val="3B9E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73168" y="84124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訓練流程  Training Pipeline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73168" y="128016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57216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資料集準備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157216" y="1581912"/>
            <a:ext cx="3566160" cy="795528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157216" y="1581912"/>
            <a:ext cx="64008" cy="7955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21808" y="1673352"/>
            <a:ext cx="33101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person_dataset/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images/ train/ val/ test/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labels/ train/ val/ test/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PennFudan / INRIA 行人資料集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19472" y="1572768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773168" y="24688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57216" y="2468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格式轉換  convert_pennfudan_to_yolo.py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157216" y="2770632"/>
            <a:ext cx="3566160" cy="429768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157216" y="2770632"/>
            <a:ext cx="64008" cy="429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21808" y="2862072"/>
            <a:ext cx="3310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Pascal VOC XML → YOLO 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xmin,ymin,xmax,ymax → normalized cx,cy,w,h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19472" y="2761488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773168" y="3291840"/>
            <a:ext cx="292608" cy="292608"/>
          </a:xfrm>
          <a:prstGeom prst="ellipse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57216" y="3291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生成  train_yolo_person.py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157216" y="3593592"/>
            <a:ext cx="3566160" cy="429768"/>
          </a:xfrm>
          <a:prstGeom prst="rect">
            <a:avLst/>
          </a:prstGeom>
          <a:solidFill>
            <a:srgbClr val="0D1117"/>
          </a:solidFill>
          <a:ln w="12700">
            <a:solidFill>
              <a:srgbClr val="3B9EFF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157216" y="3593592"/>
            <a:ext cx="64008" cy="429768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21808" y="3685032"/>
            <a:ext cx="3310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自動生成 person.yaml 指向 dataset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驗證每張 image 都有對應 label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919472" y="3584448"/>
            <a:ext cx="0" cy="201168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4773168" y="4114800"/>
            <a:ext cx="292608" cy="2926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73168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157216" y="4114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訓練指令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157216" y="4416552"/>
            <a:ext cx="3566160" cy="612648"/>
          </a:xfrm>
          <a:prstGeom prst="rect">
            <a:avLst/>
          </a:prstGeom>
          <a:solidFill>
            <a:srgbClr val="0D1117"/>
          </a:solidFill>
          <a:ln w="12700">
            <a:solidFill>
              <a:srgbClr val="A78BFA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157216" y="4416552"/>
            <a:ext cx="64008" cy="6126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21808" y="4507992"/>
            <a:ext cx="33101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train_yolo_person.py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--dataset-root person_dataset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--epochs 50 --batch 16 --device 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73168" y="5120640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73168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157216" y="5120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輸出權重路徑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157216" y="5422392"/>
            <a:ext cx="3566160" cy="429768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157216" y="5422392"/>
            <a:ext cx="64008" cy="429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21808" y="5513832"/>
            <a:ext cx="3310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runs/person_yolo_train/weights/best.pt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同路徑供所有腳本引用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推論程式碼解析  ·  Inference Code Deep Dive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60520" cy="4251960"/>
          </a:xfrm>
          <a:prstGeom prst="rect">
            <a:avLst/>
          </a:prstGeom>
          <a:solidFill>
            <a:srgbClr val="1E2A3A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loitering_detect.py  — 核心追蹤迴圈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207008"/>
            <a:ext cx="397764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207008"/>
            <a:ext cx="64008" cy="3657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280160"/>
            <a:ext cx="3749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YOLO(args.model)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= esp32_source.VideoSource(args.source)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 = cap.read()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 = model.track(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frame, persist=True,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tracker='bytetrack.yaml',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conf=args.conf, classes=[0])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box in results[0].boxes: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tid  = int(box.id)    # track 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xyxy = box.xyxy[0]   # bbox coords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cx = (xyxy[0]+xyxy[2])/2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cy = (xyxy[1]+xyxy[3])/2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point_in_polygon(cx,cy,ROI):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dwell[tid] += dt   # accumulate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dwell[tid] &gt; LOITER_THRESH: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trigger_alert(tid)  # ALERT!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731520"/>
            <a:ext cx="4251960" cy="4251960"/>
          </a:xfrm>
          <a:prstGeom prst="rect">
            <a:avLst/>
          </a:prstGeom>
          <a:solidFill>
            <a:srgbClr val="162032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8032" y="82296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程式碼說明  Code Annotations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28032" y="1234440"/>
            <a:ext cx="3913632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B9E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12710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YOLO(...)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01184" y="1481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 Ultralytics YOLO 模型。路徑可由 --model 參數覆寫，預設 best.pt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28032" y="1764792"/>
            <a:ext cx="3913632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18013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model.track(..., persist=True)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01184" y="20116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persist=True 讓 ByteTrack 跨幀保持相同 track_id，是滯留計算的核心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28032" y="2295144"/>
            <a:ext cx="3913632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2331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classes=[0]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01184" y="25420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類別 0 = person，僅對行人進行偵測，排除其他物件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28032" y="2825496"/>
            <a:ext cx="3913632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2862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box.id / box.xyxy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01184" y="30723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為 ByteTrack 分配的唯一追蹤 ID；xyxy 為 [x1,y1,x2,y2] 格式像素座標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28032" y="3355848"/>
            <a:ext cx="3913632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00C9B1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33924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point_in_polygon(cx,cy,ROI)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01184" y="36027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 bbox 中心點是否在 ROI 多邊形內（射線法），決定是否累積滯留時間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28032" y="3886200"/>
            <a:ext cx="3913632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39227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dwell[tid] += dt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01184" y="41330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dict 記錄每個 track_id 的 in-ROI 累積秒數。dt = 幀間時間差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28032" y="4416552"/>
            <a:ext cx="3913632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44531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trigger_alert(tid)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01184" y="46634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超過 --loiter-seconds 閾值時觸發，記錄到 in-memory alert log，並在畫面標紅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94360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追蹤與行為分類  ·  Tracking &amp; Behavior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5303520" cy="1874520"/>
          </a:xfrm>
          <a:prstGeom prst="rect">
            <a:avLst/>
          </a:prstGeom>
          <a:solidFill>
            <a:srgbClr val="1E2A3A"/>
          </a:solidFill>
          <a:ln w="19050">
            <a:solidFill>
              <a:srgbClr val="3B9E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595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運作原理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234440"/>
            <a:ext cx="201168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B9E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34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High-confidence detections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42032" y="126187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直接與現有 tracks 做 IoU 匹配 → 更新 track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554480"/>
            <a:ext cx="201168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B9E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554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Low-confidence detections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42032" y="158191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保留備用，嘗試與 unmatched tracks 二次匹配 → 減少 ID switch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1874520"/>
            <a:ext cx="201168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B9E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Unmatched tracks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42032" y="190195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 lost 狀態，保留 N 幀後刪除（避免 ghost track）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2194560"/>
            <a:ext cx="201168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3B9E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194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detections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42032" y="222199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無法匹配的偵測框 → 建立新 track_id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15000" y="749808"/>
            <a:ext cx="3154680" cy="1874520"/>
          </a:xfrm>
          <a:prstGeom prst="rect">
            <a:avLst/>
          </a:prstGeom>
          <a:solidFill>
            <a:srgbClr val="162032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70448" y="8595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滯留判斷邏輯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70448" y="1207008"/>
            <a:ext cx="2880360" cy="141732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70448" y="1207008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298448"/>
            <a:ext cx="2624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ROI = [(x1,y1),(x2,y2),...]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dwell = defaultdict(float)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grace = defaultdict(float)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in_roi(cx,cy,ROI):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dwell[tid] += dt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grace[tid] += dt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grace[tid] &gt; GRACE: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dwell[tid] = 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27432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行為分類  Behavior Classification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154680"/>
            <a:ext cx="1627632" cy="1783080"/>
          </a:xfrm>
          <a:prstGeom prst="rect">
            <a:avLst/>
          </a:prstGeom>
          <a:solidFill>
            <a:srgbClr val="1E2A3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154680"/>
            <a:ext cx="1627632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31012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靜止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1444752" cy="9144"/>
          </a:xfrm>
          <a:prstGeom prst="rect">
            <a:avLst/>
          </a:prstGeom>
          <a:solidFill>
            <a:srgbClr val="EF4444">
              <a:alpha val="4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88620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幾乎不移動，在 ROI 內累積時間 → 最高威脅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29968" y="3154680"/>
            <a:ext cx="1627632" cy="178308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29968" y="3154680"/>
            <a:ext cx="1627632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331012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徘徊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121408" y="3840480"/>
            <a:ext cx="1444752" cy="914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1408" y="388620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ROI 附近來回移動但不離開，路徑雜亂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85616" y="3154680"/>
            <a:ext cx="1627632" cy="1783080"/>
          </a:xfrm>
          <a:prstGeom prst="rect">
            <a:avLst/>
          </a:prstGeom>
          <a:solidFill>
            <a:srgbClr val="1E2A3A"/>
          </a:solidFill>
          <a:ln w="19050">
            <a:solidFill>
              <a:srgbClr val="3B9E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785616" y="3154680"/>
            <a:ext cx="1627632" cy="128016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58768" y="331012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繞圈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877056" y="3840480"/>
            <a:ext cx="1444752" cy="9144"/>
          </a:xfrm>
          <a:prstGeom prst="rect">
            <a:avLst/>
          </a:prstGeom>
          <a:solidFill>
            <a:srgbClr val="3B9EFF">
              <a:alpha val="40000"/>
            </a:srgbClr>
          </a:solidFill>
          <a:ln w="12700">
            <a:solidFill>
              <a:srgbClr val="3B9EFF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77056" y="388620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移動路徑形成循環，軌跡點間距離分佈均勻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41264" y="3154680"/>
            <a:ext cx="1627632" cy="1783080"/>
          </a:xfrm>
          <a:prstGeom prst="rect">
            <a:avLst/>
          </a:prstGeom>
          <a:solidFill>
            <a:srgbClr val="1E2A3A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541264" y="3154680"/>
            <a:ext cx="1627632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14416" y="331012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穿越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32704" y="3840480"/>
            <a:ext cx="1444752" cy="9144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32704" y="388620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高速直線穿越 ROI，in-ROI 時間短，不觸發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96912" y="3154680"/>
            <a:ext cx="1627632" cy="1783080"/>
          </a:xfrm>
          <a:prstGeom prst="rect">
            <a:avLst/>
          </a:prstGeom>
          <a:solidFill>
            <a:srgbClr val="1E2A3A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96912" y="3154680"/>
            <a:ext cx="1627632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70064" y="331012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追蹤中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388352" y="3840480"/>
            <a:ext cx="1444752" cy="9144"/>
          </a:xfrm>
          <a:prstGeom prst="rect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88352" y="388620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目前在 ROI 內但尚未超過 loiter 閾值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硬體連結  ·  ESP32-CAM Hardware Integration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069080" cy="4160520"/>
          </a:xfrm>
          <a:prstGeom prst="rect">
            <a:avLst/>
          </a:prstGeom>
          <a:solidFill>
            <a:srgbClr val="1E2A3A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595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硬體規格  Hardware Specs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298448"/>
            <a:ext cx="11887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984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19072" y="13441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AI-Thinker ESP32-CAM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1645920"/>
            <a:ext cx="11887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645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韌體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19072" y="16916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CameraWebServer.ino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" y="1993392"/>
            <a:ext cx="11887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993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19072" y="20391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 IDE (ESP32 board support)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" y="2340864"/>
            <a:ext cx="11887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3408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位址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19072" y="23865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172.20.10.2  (hardcoded in app.py)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" y="2688336"/>
            <a:ext cx="11887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688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Port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19072" y="27340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" y="3035808"/>
            <a:ext cx="11887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擷取端點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19072" y="30815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/capture → JPEG bytes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3383280"/>
            <a:ext cx="11887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連線協定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19072" y="34290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Wi-Fi 802.11 b/g/n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3730752"/>
            <a:ext cx="11887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730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影像格式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719072" y="3776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JPEG (HTTP response body)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38912" y="4078224"/>
            <a:ext cx="11887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078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解析度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719072" y="41239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VGA 640x480 (default)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425696"/>
            <a:ext cx="118872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4425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韌體位置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19072" y="44714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CameraWebServer/CameraWebServer.ino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17720" y="749808"/>
            <a:ext cx="4251960" cy="23317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9B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73168" y="859536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esp32_source.py  —  HTTP 抓幀邏輯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73168" y="1234440"/>
            <a:ext cx="3913632" cy="1737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0C9B1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73168" y="1234440"/>
            <a:ext cx="64008" cy="17373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13258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ESP32_URL = 'http://172.20.10.2:80/capture'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_fetch_loop(self):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self._running: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requests.get(ESP32_URL,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timeout=2.0)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jpg = np.frombuffer(r.content,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np.uint8)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 = cv2.imdecode(jpg,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cv2.IMREAD_COLOR)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self._buf.append(frame)  # deque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3246120"/>
            <a:ext cx="4251960" cy="1664208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73168" y="3355848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連接步驟  Connection Flow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73168" y="3730752"/>
            <a:ext cx="228600" cy="228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37307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84064" y="3739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燒錄韌體  —  Arduino IDE → CameraWebServer.ino → Flash ESP32-CAM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73168" y="4005072"/>
            <a:ext cx="228600" cy="22860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4005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84064" y="40142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連線  —  ESP32-CAM 連到與主機同網段，取得固定 IP 172.20.10.2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73168" y="4279392"/>
            <a:ext cx="228600" cy="228600"/>
          </a:xfrm>
          <a:prstGeom prst="ellipse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42793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84064" y="42885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輪詢  —  esp32_source.py 背景執行緒以 GET /capture 持續抓幀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73168" y="4553712"/>
            <a:ext cx="228600" cy="2286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73168" y="45537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84064" y="45628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推論  —  解碼 JPEG → numpy → YOLO.track() → 回傳偵測結果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儀表板與 REST API  ·  Dashboard &amp; API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788920" cy="2286000"/>
          </a:xfrm>
          <a:prstGeom prst="rect">
            <a:avLst/>
          </a:prstGeom>
          <a:solidFill>
            <a:srgbClr val="1E2A3A"/>
          </a:solidFill>
          <a:ln w="19050">
            <a:solidFill>
              <a:srgbClr val="00C9B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2788920" cy="10972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896112"/>
            <a:ext cx="2578608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96112"/>
            <a:ext cx="2578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[MJPEG Stream]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08483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37744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原始偵測框 + track_id 標籤 + 信心分數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749808"/>
            <a:ext cx="2788920" cy="2286000"/>
          </a:xfrm>
          <a:prstGeom prst="rect">
            <a:avLst/>
          </a:prstGeom>
          <a:solidFill>
            <a:srgbClr val="1E2A3A"/>
          </a:solidFill>
          <a:ln w="19050">
            <a:solidFill>
              <a:srgbClr val="3B9E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749808"/>
            <a:ext cx="2788920" cy="109728"/>
          </a:xfrm>
          <a:prstGeom prst="rect">
            <a:avLst/>
          </a:prstGeom>
          <a:solidFill>
            <a:srgbClr val="3B9EFF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896112"/>
            <a:ext cx="2578608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B9E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896112"/>
            <a:ext cx="2578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[MJPEG Stream]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208483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237744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 track 的移動軌跡 + 行為分類標籤 overlay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749808"/>
            <a:ext cx="2788920" cy="2286000"/>
          </a:xfrm>
          <a:prstGeom prst="rect">
            <a:avLst/>
          </a:prstGeom>
          <a:solidFill>
            <a:srgbClr val="1E2A3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749808"/>
            <a:ext cx="278892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27648" y="896112"/>
            <a:ext cx="2578608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896112"/>
            <a:ext cx="2578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[MJPEG Stream]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27648" y="208483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7648" y="237744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in-ROI 停留密度熱力圖，依時間衰減（decay over time）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4069080" cy="1783080"/>
          </a:xfrm>
          <a:prstGeom prst="rect">
            <a:avLst/>
          </a:prstGeom>
          <a:solidFill>
            <a:srgbClr val="162032"/>
          </a:solidFill>
          <a:ln w="19050">
            <a:solidFill>
              <a:srgbClr val="3B9E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246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端點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" y="36210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/api/status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20240" y="36210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running, fps, track_count, alert_count }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8912" y="38404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/api/alerts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20240" y="38404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[{ track_id, start, duration, bbox }]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" y="40599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/api/hourly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20240" y="40599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[{ hour, count }]  → 每小時警報統計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" y="4279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/video_feed1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920240" y="42793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 stream — bounding box 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8912" y="44988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/video_feed2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20240" y="44988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 stream — trajectory 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" y="47183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/video_feed3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2024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 stream — heatmap view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3154680"/>
            <a:ext cx="4251960" cy="178308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73168" y="3246120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 — 串流生成程式碼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73168" y="3611880"/>
            <a:ext cx="3913632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73168" y="361188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37033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gen_bbox_frames():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True: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 = detection_thread.bbox_frame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_, buf = cv2.imencode('.jpg', frame)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(b'--frame\r\n'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b'Content-Type: image/jpeg\r\n'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buf.tobytes() + b'\r\n')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@app.route('/video_feed1')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video_feed1():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Response(gen_bbox_frames(),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mimetype='multipart/x-mixed-replace')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系統設定與資料集  ·  Configuration &amp; Dataset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60520" cy="210312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595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硬編碼設定值  Hardcoded Config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" y="1261872"/>
            <a:ext cx="363931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IP: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0" y="12984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172.20.10.2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54680" y="1298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loitering_dashboard/app.py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8912" y="1572768"/>
            <a:ext cx="363931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64748B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6093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Port: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16093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54680" y="16093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loitering_dashboard/app.py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363931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92024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Loiter Threshold: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37360" y="19202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(seconds)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1920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loitering_dashboard/app.py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8912" y="2194560"/>
            <a:ext cx="363931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2311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Path: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37360" y="2231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runs/person_yolo_train/weights/best.pt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54680" y="22311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全部腳本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38912" y="2505456"/>
            <a:ext cx="3639312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5420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Polygon: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37360" y="2542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of (x,y) tuples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5468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loitering_detect.py + app.py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749808"/>
            <a:ext cx="4160520" cy="2103120"/>
          </a:xfrm>
          <a:prstGeom prst="rect">
            <a:avLst/>
          </a:prstGeom>
          <a:solidFill>
            <a:srgbClr val="162032"/>
          </a:solidFill>
          <a:ln w="19050">
            <a:solidFill>
              <a:srgbClr val="00C9B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73752" y="8595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訓練資料集結構  Dataset Layout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73752" y="1234440"/>
            <a:ext cx="3840480" cy="1536192"/>
          </a:xfrm>
          <a:prstGeom prst="rect">
            <a:avLst/>
          </a:prstGeom>
          <a:solidFill>
            <a:srgbClr val="0D1117"/>
          </a:solidFill>
          <a:ln w="12700">
            <a:solidFill>
              <a:srgbClr val="00C9B1">
                <a:alpha val="4000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73752" y="1234440"/>
            <a:ext cx="64008" cy="153619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38344" y="1325880"/>
            <a:ext cx="358444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person_dataset/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train/  val/  test/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train/  val/  test/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yolo11n.pt          # pre-trained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yolo26n.pt          # alternative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runs/person_yolo_train/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weights/best.pt   # fine-tuned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person.yaml         # auto-generated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971800"/>
            <a:ext cx="8595360" cy="1920240"/>
          </a:xfrm>
          <a:prstGeom prst="rect">
            <a:avLst/>
          </a:prstGeom>
          <a:solidFill>
            <a:srgbClr val="1E2A3A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3081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快速啟動指令  Quick Start Commands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1480" y="3456432"/>
            <a:ext cx="832104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493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Install dependencies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834640" y="3493008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ultralytics opencv-python numpy flask requests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" y="3785616"/>
            <a:ext cx="832104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822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Train model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834640" y="3822192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train_yolo_person.py --dataset-root person_dataset --epochs 50 --batch 16 --device 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" y="4114800"/>
            <a:ext cx="832104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1513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Run CLI detection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834640" y="415137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loitering_detect.py --source test.mp4 --show --save --loiter-seconds 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11480" y="4443984"/>
            <a:ext cx="8321040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480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Start dashboard (requires ESP32-CAM)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834640" y="448056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loitering_dashboard/app.py     # → http://localhost:5000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系統總結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475488" cy="475488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0432" y="175564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9933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輕量，行人偵測 fine-tune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475488" cy="475488"/>
          </a:xfrm>
          <a:prstGeom prst="rect">
            <a:avLst/>
          </a:prstGeom>
          <a:solidFill>
            <a:srgbClr val="3B9EFF">
              <a:alpha val="80000"/>
            </a:srgbClr>
          </a:solidFill>
          <a:ln w="12700">
            <a:solidFill>
              <a:srgbClr val="3B9EF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14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253288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277063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跨幀穩定 track_id，處理遮擋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291840"/>
            <a:ext cx="475488" cy="47548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331012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354787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HTTP，低成本邊緣節點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4069080"/>
            <a:ext cx="475488" cy="47548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69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70432" y="408736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MJPEG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0432" y="43251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3路串流 + REST API 後端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03320" y="685800"/>
            <a:ext cx="2542032" cy="1993392"/>
          </a:xfrm>
          <a:prstGeom prst="rect">
            <a:avLst/>
          </a:prstGeom>
          <a:solidFill>
            <a:srgbClr val="1E2A3A"/>
          </a:solidFill>
          <a:ln w="19050">
            <a:solidFill>
              <a:srgbClr val="00C9B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03320" y="685800"/>
            <a:ext cx="2542032" cy="10972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8503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流程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840480" y="1161288"/>
            <a:ext cx="2286000" cy="9144"/>
          </a:xfrm>
          <a:prstGeom prst="rect">
            <a:avLst/>
          </a:prstGeom>
          <a:solidFill>
            <a:srgbClr val="00C9B1">
              <a:alpha val="40000"/>
            </a:srgbClr>
          </a:solidFill>
          <a:ln w="12700">
            <a:solidFill>
              <a:srgbClr val="00C9B1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12344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/ 本地影片 → esp32_source.py (統一來源) → YOLO.track() (YOLOv11+ByteTrack) → ROI 滯留計算 → Alert → Dashboard + REST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685800"/>
            <a:ext cx="2542032" cy="1993392"/>
          </a:xfrm>
          <a:prstGeom prst="rect">
            <a:avLst/>
          </a:prstGeom>
          <a:solidFill>
            <a:srgbClr val="1E2A3A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685800"/>
            <a:ext cx="2542032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8503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模型架構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1161288"/>
            <a:ext cx="2286000" cy="9144"/>
          </a:xfrm>
          <a:prstGeom prst="rect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12344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Nano fine-tune 行人偵測。ByteTrack 整合於 YOLO.track()，以 persist=True 維持跨幀 track_id，是滯留時間計算的基礎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03320" y="2834640"/>
            <a:ext cx="2542032" cy="1993392"/>
          </a:xfrm>
          <a:prstGeom prst="rect">
            <a:avLst/>
          </a:prstGeom>
          <a:solidFill>
            <a:srgbClr val="1E2A3A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03320" y="2834640"/>
            <a:ext cx="2542032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2999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硬體整合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840480" y="3310128"/>
            <a:ext cx="2286000" cy="9144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3383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透過 Wi-Fi 提供 HTTP /capture JPEG 串流。esp32_source.py 以背景執行緒輪詢，與本地影片路徑使用相同介面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2834640"/>
            <a:ext cx="2542032" cy="1993392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00800" y="2834640"/>
            <a:ext cx="254203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2999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已知限制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37960" y="3310128"/>
            <a:ext cx="2286000" cy="914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3383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IP、ROI polygon、loiter 閾值、模型路徑均硬編碼在原始碼中，無獨立設定檔。建議重構為 config.yaml 統一管理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Loitering Detection System</dc:title>
  <dc:subject>PptxGenJS Presentation</dc:subject>
  <dc:creator>PptxGenJS</dc:creator>
  <cp:lastModifiedBy>PptxGenJS</cp:lastModifiedBy>
  <cp:revision>1</cp:revision>
  <dcterms:created xsi:type="dcterms:W3CDTF">2026-04-29T13:08:08Z</dcterms:created>
  <dcterms:modified xsi:type="dcterms:W3CDTF">2026-04-29T13:08:08Z</dcterms:modified>
</cp:coreProperties>
</file>